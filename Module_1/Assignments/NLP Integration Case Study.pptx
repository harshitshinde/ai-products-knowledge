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55B6B"/>
    <a:srgbClr val="C8E9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4ECEA-42E3-46A2-806B-03F91FD344F9}" v="9" dt="2021-03-26T06:37:39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4"/>
  </p:normalViewPr>
  <p:slideViewPr>
    <p:cSldViewPr snapToGrid="0">
      <p:cViewPr varScale="1">
        <p:scale>
          <a:sx n="58" d="100"/>
          <a:sy n="58" d="100"/>
        </p:scale>
        <p:origin x="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83F735-F476-4E10-B441-B965A2FD05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650" y="4781550"/>
            <a:ext cx="914400" cy="9144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9/29/2025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9/29/2025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9/29/2025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5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Case study: Virtual assistant NLP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7250642"/>
            <a:ext cx="6801612" cy="1239894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Picture 6" descr="MIT logo">
            <a:extLst>
              <a:ext uri="{FF2B5EF4-FFF2-40B4-BE49-F238E27FC236}">
                <a16:creationId xmlns:a16="http://schemas.microsoft.com/office/drawing/2014/main" id="{4B2F46C4-4C89-0684-1476-AF3D7AF18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673" y="6339252"/>
            <a:ext cx="1778579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40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F4680D4-DEE2-49EE-AF90-EFEAF50AE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04133-8ACC-469C-A7D2-D59D1063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414" y="564311"/>
            <a:ext cx="5291327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The problem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C52EE1-5085-4960-AD29-A926E62E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640080"/>
            <a:ext cx="4017264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15AA94-C237-4412-B37B-EB317D2B0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0772" y="806357"/>
            <a:ext cx="3685032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Icon ">
            <a:extLst>
              <a:ext uri="{FF2B5EF4-FFF2-40B4-BE49-F238E27FC236}">
                <a16:creationId xmlns:a16="http://schemas.microsoft.com/office/drawing/2014/main" id="{E27F60A2-A75F-4811-8026-BF38CF0161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" r="5257" b="-3"/>
          <a:stretch/>
        </p:blipFill>
        <p:spPr>
          <a:xfrm>
            <a:off x="7749250" y="1410262"/>
            <a:ext cx="3471962" cy="38514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891A2A-0664-4DB8-A9C2-0E0C87906AB2}"/>
              </a:ext>
            </a:extLst>
          </p:cNvPr>
          <p:cNvSpPr txBox="1"/>
          <p:nvPr/>
        </p:nvSpPr>
        <p:spPr>
          <a:xfrm>
            <a:off x="797414" y="2195543"/>
            <a:ext cx="52985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Virtual assistants can be too general: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Extract keywords from what is said and returns an info card with an answer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Misunderstand the point all together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Simply don't know the answer</a:t>
            </a:r>
          </a:p>
        </p:txBody>
      </p:sp>
      <p:pic>
        <p:nvPicPr>
          <p:cNvPr id="3" name="Picture 2" descr="MIT logo">
            <a:extLst>
              <a:ext uri="{FF2B5EF4-FFF2-40B4-BE49-F238E27FC236}">
                <a16:creationId xmlns:a16="http://schemas.microsoft.com/office/drawing/2014/main" id="{A6905673-1732-79C1-9DDA-0763F3C30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673" y="6339252"/>
            <a:ext cx="1778579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943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3241-BF58-4A21-A545-A94C85DA9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361" y="0"/>
            <a:ext cx="7437536" cy="1188720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Scenario: creating a shopping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A6D96-A62A-45E8-BE7E-6D52333D3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6" y="2510882"/>
            <a:ext cx="8468050" cy="18362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Suppose you want your device to help you make a grocery list</a:t>
            </a:r>
          </a:p>
          <a:p>
            <a:pPr marL="0" indent="0">
              <a:buNone/>
            </a:pPr>
            <a:r>
              <a:rPr lang="en-US" sz="2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“Alexa, remind me to buy milk, rice, and blueberries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4C5437-838C-45F6-BFC8-3AF0ADE3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7576" y="-2"/>
            <a:ext cx="3284423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CBD493-E381-4822-8F8F-A4194DFD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04853" y="484632"/>
            <a:ext cx="2310590" cy="17502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 descr="A picture of bowl containing rice">
            <a:extLst>
              <a:ext uri="{FF2B5EF4-FFF2-40B4-BE49-F238E27FC236}">
                <a16:creationId xmlns:a16="http://schemas.microsoft.com/office/drawing/2014/main" id="{5D303937-E1D3-41DB-9CC8-2FE019740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091" y="635689"/>
            <a:ext cx="1448114" cy="14481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310D9BE-4AD2-4CC3-84FA-4E05790B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04853" y="2395728"/>
            <a:ext cx="2310590" cy="17502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A bottle of milk">
            <a:extLst>
              <a:ext uri="{FF2B5EF4-FFF2-40B4-BE49-F238E27FC236}">
                <a16:creationId xmlns:a16="http://schemas.microsoft.com/office/drawing/2014/main" id="{BEF1BA7E-FC4D-4151-8BD3-27EBF9723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091" y="2546785"/>
            <a:ext cx="1448114" cy="144811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D7CC766-DF6B-4E3F-8101-8D5F35D4A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04853" y="4311381"/>
            <a:ext cx="2310590" cy="17502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6" descr="A bunch of blueberries">
            <a:extLst>
              <a:ext uri="{FF2B5EF4-FFF2-40B4-BE49-F238E27FC236}">
                <a16:creationId xmlns:a16="http://schemas.microsoft.com/office/drawing/2014/main" id="{130A3FC5-63EC-4C9A-99D7-77467A2CD6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6091" y="4462438"/>
            <a:ext cx="1448114" cy="1448114"/>
          </a:xfrm>
          <a:prstGeom prst="rect">
            <a:avLst/>
          </a:prstGeom>
        </p:spPr>
      </p:pic>
      <p:pic>
        <p:nvPicPr>
          <p:cNvPr id="7" name="Picture 6" descr="MIT logo">
            <a:extLst>
              <a:ext uri="{FF2B5EF4-FFF2-40B4-BE49-F238E27FC236}">
                <a16:creationId xmlns:a16="http://schemas.microsoft.com/office/drawing/2014/main" id="{FB8CF855-400E-161A-FCA7-50DA463A1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8673" y="6339252"/>
            <a:ext cx="1778579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603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88FF-6636-46BB-9837-582326FC0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317" y="0"/>
            <a:ext cx="9811366" cy="118872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+mj-lt"/>
                <a:cs typeface="Calibri" panose="020F0502020204030204" pitchFamily="34" charset="0"/>
              </a:rPr>
              <a:t>The problem: MAKING An </a:t>
            </a:r>
            <a:r>
              <a:rPr lang="en-US" b="1" dirty="0">
                <a:solidFill>
                  <a:srgbClr val="0070C0"/>
                </a:solidFill>
                <a:latin typeface="Calibri" panose="020F0502020204030204" pitchFamily="34" charset="0"/>
                <a:ea typeface="+mj-lt"/>
                <a:cs typeface="Calibri" panose="020F0502020204030204" pitchFamily="34" charset="0"/>
              </a:rPr>
              <a:t>effective</a:t>
            </a:r>
            <a:r>
              <a:rPr lang="en-US" b="1" dirty="0">
                <a:latin typeface="Calibri" panose="020F0502020204030204" pitchFamily="34" charset="0"/>
                <a:ea typeface="+mj-lt"/>
                <a:cs typeface="Calibri" panose="020F0502020204030204" pitchFamily="34" charset="0"/>
              </a:rPr>
              <a:t> SHOPPING LIST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3415C-93D8-4F87-A6A5-9F0F7F730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09" y="1878009"/>
            <a:ext cx="11421669" cy="31019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you are done listing your groceries a virtual assistant can only ask basic questions:</a:t>
            </a:r>
          </a:p>
          <a:p>
            <a:pPr>
              <a:buClr>
                <a:srgbClr val="000000"/>
              </a:buClr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2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do you want me to remind you?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>
              <a:buClr>
                <a:srgbClr val="000000"/>
              </a:buClr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2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that everything?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28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would be ideal if the virtual assistant would help us completing our shopping list in a smart and effective way</a:t>
            </a:r>
          </a:p>
        </p:txBody>
      </p:sp>
      <p:pic>
        <p:nvPicPr>
          <p:cNvPr id="3" name="Picture 2" descr="MIT logo">
            <a:extLst>
              <a:ext uri="{FF2B5EF4-FFF2-40B4-BE49-F238E27FC236}">
                <a16:creationId xmlns:a16="http://schemas.microsoft.com/office/drawing/2014/main" id="{44498AD0-1676-E10E-7EC2-31356863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673" y="6339252"/>
            <a:ext cx="1778579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34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4A223-ED44-4C4C-8DA0-ECCA99495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15" y="715627"/>
            <a:ext cx="5400000" cy="5400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 solution: 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NLP 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5E955-1662-4463-AB4B-F86AAA275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06" y="2633254"/>
            <a:ext cx="6390466" cy="159149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just">
              <a:buNone/>
            </a:pPr>
            <a:r>
              <a:rPr lang="en-US" sz="2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NLP can solve the problem by using</a:t>
            </a:r>
            <a:r>
              <a:rPr lang="en-US" sz="2800" i="1" dirty="0">
                <a:solidFill>
                  <a:srgbClr val="000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real context clues from conversation, rather than just giving up when it can't find a predefined response for a set of keywords. </a:t>
            </a:r>
            <a:endParaRPr lang="en-US" sz="2800" i="1" dirty="0"/>
          </a:p>
        </p:txBody>
      </p:sp>
      <p:pic>
        <p:nvPicPr>
          <p:cNvPr id="4" name="Picture 3" descr="MIT logo">
            <a:extLst>
              <a:ext uri="{FF2B5EF4-FFF2-40B4-BE49-F238E27FC236}">
                <a16:creationId xmlns:a16="http://schemas.microsoft.com/office/drawing/2014/main" id="{2AD3B72A-38C6-A74B-3250-54433279B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673" y="6339252"/>
            <a:ext cx="1778579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03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9A972-2120-46F5-9F34-ED6FA03F3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0"/>
            <a:ext cx="7729728" cy="118872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The  idea</a:t>
            </a:r>
          </a:p>
        </p:txBody>
      </p:sp>
      <p:pic>
        <p:nvPicPr>
          <p:cNvPr id="4" name="Graphic 4" descr="Male profile with solid fill">
            <a:extLst>
              <a:ext uri="{FF2B5EF4-FFF2-40B4-BE49-F238E27FC236}">
                <a16:creationId xmlns:a16="http://schemas.microsoft.com/office/drawing/2014/main" id="{68814BF8-99B7-4389-BF98-5A0877D49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046" y="4219586"/>
            <a:ext cx="2104940" cy="2104940"/>
          </a:xfr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8A903242-BBA0-4F73-AF0C-94BB3E8574AA}"/>
              </a:ext>
            </a:extLst>
          </p:cNvPr>
          <p:cNvSpPr/>
          <p:nvPr/>
        </p:nvSpPr>
        <p:spPr>
          <a:xfrm>
            <a:off x="571046" y="3284182"/>
            <a:ext cx="2888344" cy="950687"/>
          </a:xfrm>
          <a:prstGeom prst="wedgeRound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2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Alexa,  I am gluten free, help me complete my groceries shopping list.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7A5333A2-2AB4-4FA4-A97A-28DB2AC68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56060" y="2218598"/>
            <a:ext cx="2344057" cy="870857"/>
          </a:xfrm>
          <a:prstGeom prst="ben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Picture 11" descr="Icon representing an AI device">
            <a:extLst>
              <a:ext uri="{FF2B5EF4-FFF2-40B4-BE49-F238E27FC236}">
                <a16:creationId xmlns:a16="http://schemas.microsoft.com/office/drawing/2014/main" id="{A62745AB-9CE1-41DA-A8EB-59FBD3F76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0283" y="4531148"/>
            <a:ext cx="1537473" cy="1642527"/>
          </a:xfrm>
          <a:prstGeom prst="rect">
            <a:avLst/>
          </a:prstGeom>
        </p:spPr>
      </p:pic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F667FD02-445B-446C-8CD1-E52659DC6E0D}"/>
              </a:ext>
            </a:extLst>
          </p:cNvPr>
          <p:cNvSpPr/>
          <p:nvPr/>
        </p:nvSpPr>
        <p:spPr>
          <a:xfrm>
            <a:off x="9148481" y="3284303"/>
            <a:ext cx="2931885" cy="972114"/>
          </a:xfrm>
          <a:prstGeom prst="wedgeRound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“</a:t>
            </a:r>
            <a:r>
              <a:rPr lang="en-US" sz="2000" i="1" dirty="0">
                <a:solidFill>
                  <a:srgbClr val="000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Here are some items you may be missing: rice, corn, beans.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”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17C70BB4-5F5C-4179-8B4E-67E3A2939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619617" y="1665241"/>
            <a:ext cx="812800" cy="2031999"/>
          </a:xfrm>
          <a:prstGeom prst="ben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876877EE-AACA-42D9-81AA-0900C28CB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1761" y="5503239"/>
            <a:ext cx="6839261" cy="487180"/>
          </a:xfrm>
          <a:prstGeom prst="lef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Computer screen with AI icon">
            <a:extLst>
              <a:ext uri="{FF2B5EF4-FFF2-40B4-BE49-F238E27FC236}">
                <a16:creationId xmlns:a16="http://schemas.microsoft.com/office/drawing/2014/main" id="{9319FBE2-37EA-2BC4-ADBF-3E56CAB380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7261" y="1339036"/>
            <a:ext cx="2344057" cy="23440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D62728-8AA1-61E6-621E-6D6F52C1F892}"/>
              </a:ext>
            </a:extLst>
          </p:cNvPr>
          <p:cNvSpPr txBox="1"/>
          <p:nvPr/>
        </p:nvSpPr>
        <p:spPr>
          <a:xfrm>
            <a:off x="6040558" y="1315872"/>
            <a:ext cx="1569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NLP</a:t>
            </a:r>
          </a:p>
        </p:txBody>
      </p:sp>
      <p:pic>
        <p:nvPicPr>
          <p:cNvPr id="5" name="Picture 4" descr="MIT logo">
            <a:extLst>
              <a:ext uri="{FF2B5EF4-FFF2-40B4-BE49-F238E27FC236}">
                <a16:creationId xmlns:a16="http://schemas.microsoft.com/office/drawing/2014/main" id="{0A2358DD-4D92-9694-3747-6032C488E8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8673" y="6339252"/>
            <a:ext cx="1778579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618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F47E20B-1205-4238-A82B-90EF577F3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3567AC-EB9A-47A9-B6EC-B5BDB73B1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D0007B-FE95-4B46-A414-C6979451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504" y="1742239"/>
            <a:ext cx="3415288" cy="3212654"/>
          </a:xfrm>
          <a:noFill/>
          <a:ln>
            <a:solidFill>
              <a:schemeClr val="bg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 costs</a:t>
            </a:r>
          </a:p>
        </p:txBody>
      </p:sp>
      <p:pic>
        <p:nvPicPr>
          <p:cNvPr id="4" name="Picture 4" descr="A table showing implementtaion costs">
            <a:extLst>
              <a:ext uri="{FF2B5EF4-FFF2-40B4-BE49-F238E27FC236}">
                <a16:creationId xmlns:a16="http://schemas.microsoft.com/office/drawing/2014/main" id="{E657BA7A-04BB-4340-B823-E46DA1F33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7763" y="809192"/>
            <a:ext cx="6250769" cy="5078749"/>
          </a:xfrm>
          <a:prstGeom prst="rect">
            <a:avLst/>
          </a:prstGeom>
        </p:spPr>
      </p:pic>
      <p:pic>
        <p:nvPicPr>
          <p:cNvPr id="3" name="Picture 2" descr="MIT logo">
            <a:extLst>
              <a:ext uri="{FF2B5EF4-FFF2-40B4-BE49-F238E27FC236}">
                <a16:creationId xmlns:a16="http://schemas.microsoft.com/office/drawing/2014/main" id="{4BAA7120-E3D8-8568-58CA-DE43DA19D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673" y="6339252"/>
            <a:ext cx="1778579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2228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Custom 1">
      <a:dk1>
        <a:srgbClr val="355B6B"/>
      </a:dk1>
      <a:lt1>
        <a:srgbClr val="C8E9E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00AA99C125D44FB098551FCB05068C" ma:contentTypeVersion="14" ma:contentTypeDescription="Create a new document." ma:contentTypeScope="" ma:versionID="f9aa3cf3a86edef63061e4cd3880ac81">
  <xsd:schema xmlns:xsd="http://www.w3.org/2001/XMLSchema" xmlns:xs="http://www.w3.org/2001/XMLSchema" xmlns:p="http://schemas.microsoft.com/office/2006/metadata/properties" xmlns:ns2="e4d593ac-a552-4cb5-8b78-b6601ea24275" xmlns:ns3="f6a63377-fc4f-4bcc-b0e8-67962fe7ee02" targetNamespace="http://schemas.microsoft.com/office/2006/metadata/properties" ma:root="true" ma:fieldsID="ee75f2dc2c1d8d5c08b25a0c416ca7c9" ns2:_="" ns3:_="">
    <xsd:import namespace="e4d593ac-a552-4cb5-8b78-b6601ea24275"/>
    <xsd:import namespace="f6a63377-fc4f-4bcc-b0e8-67962fe7ee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d593ac-a552-4cb5-8b78-b6601ea242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a63377-fc4f-4bcc-b0e8-67962fe7ee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D97E9E-2DBD-4ADF-A2D1-B7ABD81C2E3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B9E8E4A-6DE2-4C83-B4F9-7EC23CB10E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6C9D93-8FA4-4E74-A566-FEC6480482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d593ac-a552-4cb5-8b78-b6601ea24275"/>
    <ds:schemaRef ds:uri="f6a63377-fc4f-4bcc-b0e8-67962fe7ee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TF00001246</Template>
  <TotalTime>199</TotalTime>
  <Words>207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Parcel</vt:lpstr>
      <vt:lpstr>Case study: Virtual assistant NLP integration</vt:lpstr>
      <vt:lpstr>The problem</vt:lpstr>
      <vt:lpstr>Scenario: creating a shopping list</vt:lpstr>
      <vt:lpstr>The problem: MAKING An effective SHOPPING LIST</vt:lpstr>
      <vt:lpstr>The solution:   NLP integration</vt:lpstr>
      <vt:lpstr>The  idea</vt:lpstr>
      <vt:lpstr>implementation costs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Nandini.Mukherjee</dc:creator>
  <cp:lastModifiedBy>Jenifer Valliara</cp:lastModifiedBy>
  <cp:revision>25</cp:revision>
  <dcterms:created xsi:type="dcterms:W3CDTF">2020-12-18T17:40:23Z</dcterms:created>
  <dcterms:modified xsi:type="dcterms:W3CDTF">2025-09-29T11:48:37Z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0x0101000900AA99C125D44FB098551FCB05068C</vt:lpwstr>
  </property>
</Properties>
</file>